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8229600" cx="14630400"/>
  <p:notesSz cx="8229600" cy="146304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ipbww54J9PqLXS58wWpsz2+O7A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B702B1D-EBA8-4EEC-96E5-672A81551BAB}">
  <a:tblStyle styleId="{5B702B1D-EBA8-4EEC-96E5-672A81551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F2ED"/>
          </a:solidFill>
        </a:fill>
      </a:tcStyle>
    </a:wholeTbl>
    <a:band1H>
      <a:tcTxStyle/>
      <a:tcStyle>
        <a:fill>
          <a:solidFill>
            <a:srgbClr val="CBE3DA"/>
          </a:solidFill>
        </a:fill>
      </a:tcStyle>
    </a:band1H>
    <a:band2H>
      <a:tcTxStyle/>
    </a:band2H>
    <a:band1V>
      <a:tcTxStyle/>
      <a:tcStyle>
        <a:fill>
          <a:solidFill>
            <a:srgbClr val="CBE3DA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" name="Google Shape;14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" name="Google Shape;218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8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8" name="Google Shape;278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3" name="Google Shape;31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2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12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13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13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4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14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8" name="Google Shape;388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16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17:notes"/>
          <p:cNvSpPr txBox="1"/>
          <p:nvPr>
            <p:ph idx="1" type="body"/>
          </p:nvPr>
        </p:nvSpPr>
        <p:spPr>
          <a:xfrm>
            <a:off x="822950" y="6949425"/>
            <a:ext cx="6583675" cy="65836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7:notes"/>
          <p:cNvSpPr/>
          <p:nvPr>
            <p:ph idx="2" type="sldImg"/>
          </p:nvPr>
        </p:nvSpPr>
        <p:spPr>
          <a:xfrm>
            <a:off x="1371850" y="1097275"/>
            <a:ext cx="5486650" cy="54864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/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9"/>
          <p:cNvSpPr txBox="1"/>
          <p:nvPr>
            <p:ph idx="1" type="subTitle"/>
          </p:nvPr>
        </p:nvSpPr>
        <p:spPr>
          <a:xfrm>
            <a:off x="1828800" y="4322446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80"/>
              <a:buNone/>
              <a:defRPr sz="2880"/>
            </a:lvl1pPr>
            <a:lvl2pPr lvl="1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2160"/>
            </a:lvl3pPr>
            <a:lvl4pPr lvl="3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4pPr>
            <a:lvl5pPr lvl="4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5pPr>
            <a:lvl6pPr lvl="5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6pPr>
            <a:lvl7pPr lvl="6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7pPr>
            <a:lvl8pPr lvl="7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8pPr>
            <a:lvl9pPr lvl="8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9pPr>
          </a:lstStyle>
          <a:p/>
        </p:txBody>
      </p:sp>
      <p:sp>
        <p:nvSpPr>
          <p:cNvPr id="14" name="Google Shape;14;p19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9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9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1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1" name="Google Shape;21;p21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1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2"/>
          <p:cNvSpPr txBox="1"/>
          <p:nvPr>
            <p:ph type="title"/>
          </p:nvPr>
        </p:nvSpPr>
        <p:spPr>
          <a:xfrm>
            <a:off x="998220" y="2051686"/>
            <a:ext cx="12618720" cy="342328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Font typeface="Calibri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" type="body"/>
          </p:nvPr>
        </p:nvSpPr>
        <p:spPr>
          <a:xfrm>
            <a:off x="998220" y="5507356"/>
            <a:ext cx="12618720" cy="18002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80"/>
              <a:buNone/>
              <a:defRPr sz="288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sz="216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22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2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2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3"/>
          <p:cNvSpPr txBox="1"/>
          <p:nvPr>
            <p:ph idx="1" type="body"/>
          </p:nvPr>
        </p:nvSpPr>
        <p:spPr>
          <a:xfrm>
            <a:off x="10058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3"/>
          <p:cNvSpPr txBox="1"/>
          <p:nvPr>
            <p:ph idx="2" type="body"/>
          </p:nvPr>
        </p:nvSpPr>
        <p:spPr>
          <a:xfrm>
            <a:off x="7406640" y="2190750"/>
            <a:ext cx="62179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3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3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3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4"/>
          <p:cNvSpPr txBox="1"/>
          <p:nvPr>
            <p:ph type="title"/>
          </p:nvPr>
        </p:nvSpPr>
        <p:spPr>
          <a:xfrm>
            <a:off x="1007746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4"/>
          <p:cNvSpPr txBox="1"/>
          <p:nvPr>
            <p:ph idx="1" type="body"/>
          </p:nvPr>
        </p:nvSpPr>
        <p:spPr>
          <a:xfrm>
            <a:off x="1007746" y="2017396"/>
            <a:ext cx="6189344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0" name="Google Shape;40;p24"/>
          <p:cNvSpPr txBox="1"/>
          <p:nvPr>
            <p:ph idx="2" type="body"/>
          </p:nvPr>
        </p:nvSpPr>
        <p:spPr>
          <a:xfrm>
            <a:off x="1007746" y="3006090"/>
            <a:ext cx="6189344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4"/>
          <p:cNvSpPr txBox="1"/>
          <p:nvPr>
            <p:ph idx="3" type="body"/>
          </p:nvPr>
        </p:nvSpPr>
        <p:spPr>
          <a:xfrm>
            <a:off x="7406640" y="2017396"/>
            <a:ext cx="6219826" cy="9886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2880"/>
              <a:buNone/>
              <a:defRPr b="1" sz="288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None/>
              <a:defRPr b="1" sz="216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b="1" sz="1920"/>
            </a:lvl9pPr>
          </a:lstStyle>
          <a:p/>
        </p:txBody>
      </p:sp>
      <p:sp>
        <p:nvSpPr>
          <p:cNvPr id="42" name="Google Shape;42;p24"/>
          <p:cNvSpPr txBox="1"/>
          <p:nvPr>
            <p:ph idx="4" type="body"/>
          </p:nvPr>
        </p:nvSpPr>
        <p:spPr>
          <a:xfrm>
            <a:off x="7406640" y="3006090"/>
            <a:ext cx="6219826" cy="44215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24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4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4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5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5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5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5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6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6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7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" type="body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7244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840"/>
              <a:buChar char="•"/>
              <a:defRPr sz="3840"/>
            </a:lvl1pPr>
            <a:lvl2pPr indent="-44196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3360"/>
              <a:buChar char="•"/>
              <a:defRPr sz="3359"/>
            </a:lvl2pPr>
            <a:lvl3pPr indent="-41148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80"/>
              <a:buChar char="•"/>
              <a:defRPr sz="2880"/>
            </a:lvl3pPr>
            <a:lvl4pPr indent="-3810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4pPr>
            <a:lvl5pPr indent="-3810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5pPr>
            <a:lvl6pPr indent="-3810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6pPr>
            <a:lvl7pPr indent="-3810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7pPr>
            <a:lvl8pPr indent="-3810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8pPr>
            <a:lvl9pPr indent="-3810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58" name="Google Shape;58;p27"/>
          <p:cNvSpPr txBox="1"/>
          <p:nvPr>
            <p:ph idx="2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27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7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7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8"/>
          <p:cNvSpPr txBox="1"/>
          <p:nvPr>
            <p:ph type="title"/>
          </p:nvPr>
        </p:nvSpPr>
        <p:spPr>
          <a:xfrm>
            <a:off x="1007746" y="548640"/>
            <a:ext cx="4718684" cy="19202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840"/>
              <a:buFont typeface="Calibri"/>
              <a:buNone/>
              <a:defRPr sz="384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/>
          <p:nvPr>
            <p:ph idx="2" type="pic"/>
          </p:nvPr>
        </p:nvSpPr>
        <p:spPr>
          <a:xfrm>
            <a:off x="6219826" y="1184911"/>
            <a:ext cx="7406640" cy="5848350"/>
          </a:xfrm>
          <a:prstGeom prst="rect">
            <a:avLst/>
          </a:prstGeom>
          <a:noFill/>
          <a:ln>
            <a:noFill/>
          </a:ln>
        </p:spPr>
      </p:sp>
      <p:sp>
        <p:nvSpPr>
          <p:cNvPr id="65" name="Google Shape;65;p28"/>
          <p:cNvSpPr txBox="1"/>
          <p:nvPr>
            <p:ph idx="1" type="body"/>
          </p:nvPr>
        </p:nvSpPr>
        <p:spPr>
          <a:xfrm>
            <a:off x="1007746" y="2468880"/>
            <a:ext cx="4718684" cy="45739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920"/>
              <a:buNone/>
              <a:defRPr sz="1920"/>
            </a:lvl1pPr>
            <a:lvl2pPr indent="-2286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680"/>
              <a:buNone/>
              <a:defRPr sz="1679"/>
            </a:lvl2pPr>
            <a:lvl3pPr indent="-2286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440"/>
              <a:buNone/>
              <a:defRPr sz="1440"/>
            </a:lvl3pPr>
            <a:lvl4pPr indent="-2286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6" name="Google Shape;66;p28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8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8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9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" type="body"/>
          </p:nvPr>
        </p:nvSpPr>
        <p:spPr>
          <a:xfrm rot="5400000">
            <a:off x="4704397" y="-1507807"/>
            <a:ext cx="5221606" cy="1261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2" name="Google Shape;72;p29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9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9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30"/>
          <p:cNvSpPr txBox="1"/>
          <p:nvPr>
            <p:ph type="title"/>
          </p:nvPr>
        </p:nvSpPr>
        <p:spPr>
          <a:xfrm rot="5400000">
            <a:off x="8560117" y="2347913"/>
            <a:ext cx="6974206" cy="315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" type="body"/>
          </p:nvPr>
        </p:nvSpPr>
        <p:spPr>
          <a:xfrm rot="5400000">
            <a:off x="2159317" y="-715327"/>
            <a:ext cx="6974206" cy="9281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30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0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0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/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80"/>
              <a:buFont typeface="Calibri"/>
              <a:buNone/>
              <a:defRPr b="0" i="0" sz="528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8"/>
          <p:cNvSpPr txBox="1"/>
          <p:nvPr>
            <p:ph idx="1" type="body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4196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3360"/>
              <a:buFont typeface="Arial"/>
              <a:buChar char="•"/>
              <a:defRPr b="0" i="0" sz="3359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11480" lvl="1" marL="914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880"/>
              <a:buFont typeface="Arial"/>
              <a:buChar char="•"/>
              <a:defRPr b="0" i="0" sz="288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65760" lvl="3" marL="1828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65760" lvl="4" marL="22860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65760" lvl="5" marL="2743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65760" lvl="6" marL="32004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65759" lvl="7" marL="36576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65759" lvl="8" marL="41148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60"/>
              <a:buFont typeface="Arial"/>
              <a:buChar char="•"/>
              <a:defRPr b="0" i="0" sz="216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8"/>
          <p:cNvSpPr txBox="1"/>
          <p:nvPr>
            <p:ph idx="10" type="dt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8"/>
          <p:cNvSpPr txBox="1"/>
          <p:nvPr>
            <p:ph idx="11" type="ftr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8"/>
          <p:cNvSpPr txBox="1"/>
          <p:nvPr>
            <p:ph idx="12" type="sldNum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44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12.png"/><Relationship Id="rId6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7.png"/><Relationship Id="rId5" Type="http://schemas.openxmlformats.org/officeDocument/2006/relationships/image" Target="../media/image6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"/>
          <p:cNvSpPr txBox="1"/>
          <p:nvPr>
            <p:ph type="ctrTitle"/>
          </p:nvPr>
        </p:nvSpPr>
        <p:spPr>
          <a:xfrm>
            <a:off x="1828800" y="1346836"/>
            <a:ext cx="10972800" cy="28651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200"/>
              <a:buFont typeface="Arial"/>
              <a:buNone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Proyecto Capstone </a:t>
            </a:r>
            <a:b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Fase 2 – Parte 1</a:t>
            </a:r>
            <a:endParaRPr/>
          </a:p>
        </p:txBody>
      </p:sp>
      <p:sp>
        <p:nvSpPr>
          <p:cNvPr id="87" name="Google Shape;87;p1"/>
          <p:cNvSpPr txBox="1"/>
          <p:nvPr>
            <p:ph idx="1" type="subTitle"/>
          </p:nvPr>
        </p:nvSpPr>
        <p:spPr>
          <a:xfrm>
            <a:off x="1262270" y="4438740"/>
            <a:ext cx="10972800" cy="1986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s-CL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Caso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754750" y="5432197"/>
            <a:ext cx="404685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216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Integrantes: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s-CL" sz="21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Nicolás Carrasco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s-CL" sz="21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Benjamín Schindler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s-CL" sz="21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Matías Suito</a:t>
            </a:r>
            <a:endParaRPr/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</a:pPr>
            <a:r>
              <a:rPr lang="es-CL" sz="216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Martín Urbina</a:t>
            </a:r>
            <a:endParaRPr/>
          </a:p>
        </p:txBody>
      </p:sp>
      <p:pic>
        <p:nvPicPr>
          <p:cNvPr descr="Old Tree"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17052" y="4282828"/>
            <a:ext cx="1428750" cy="619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00022" y="983408"/>
            <a:ext cx="11430355" cy="692814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"/>
          <p:cNvSpPr/>
          <p:nvPr/>
        </p:nvSpPr>
        <p:spPr>
          <a:xfrm>
            <a:off x="5228556" y="420529"/>
            <a:ext cx="4173286" cy="471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Arial"/>
              <a:buNone/>
            </a:pPr>
            <a:r>
              <a:rPr lang="es-CL" sz="29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Modelo Base de Datos</a:t>
            </a:r>
            <a:endParaRPr sz="2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"/>
          <p:cNvSpPr/>
          <p:nvPr/>
        </p:nvSpPr>
        <p:spPr>
          <a:xfrm>
            <a:off x="523399" y="416719"/>
            <a:ext cx="4271010" cy="46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900"/>
              <a:buFont typeface="Arial"/>
              <a:buNone/>
            </a:pPr>
            <a:r>
              <a:rPr lang="es-CL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Programación Front-End</a:t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523399" y="1590556"/>
            <a:ext cx="4428173" cy="1714143"/>
          </a:xfrm>
          <a:prstGeom prst="roundRect">
            <a:avLst>
              <a:gd fmla="val 36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680561" y="1747718"/>
            <a:ext cx="448628" cy="448628"/>
          </a:xfrm>
          <a:prstGeom prst="roundRect">
            <a:avLst>
              <a:gd fmla="val 20380105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4" name="Google Shape;104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3910" y="1845826"/>
            <a:ext cx="201811" cy="252293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3"/>
          <p:cNvSpPr/>
          <p:nvPr/>
        </p:nvSpPr>
        <p:spPr>
          <a:xfrm>
            <a:off x="680561" y="2345888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React + Vite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680561" y="2669143"/>
            <a:ext cx="4113848" cy="47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Componentes reutilizables, desarrollo ágil, cambios instantáneos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101114" y="1590556"/>
            <a:ext cx="4428173" cy="1714143"/>
          </a:xfrm>
          <a:prstGeom prst="roundRect">
            <a:avLst>
              <a:gd fmla="val 36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258276" y="1747718"/>
            <a:ext cx="448628" cy="448628"/>
          </a:xfrm>
          <a:prstGeom prst="roundRect">
            <a:avLst>
              <a:gd fmla="val 20380105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9" name="Google Shape;10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81625" y="1845826"/>
            <a:ext cx="201811" cy="252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3"/>
          <p:cNvSpPr/>
          <p:nvPr/>
        </p:nvSpPr>
        <p:spPr>
          <a:xfrm>
            <a:off x="5258276" y="2345888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TypeScript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5258276" y="2669143"/>
            <a:ext cx="4113848" cy="47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Tipado estático, estructura de datos consistente, menos errores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9678829" y="1590556"/>
            <a:ext cx="4428173" cy="1714143"/>
          </a:xfrm>
          <a:prstGeom prst="roundRect">
            <a:avLst>
              <a:gd fmla="val 3664" name="adj"/>
            </a:avLst>
          </a:prstGeom>
          <a:solidFill>
            <a:srgbClr val="E1E1EA"/>
          </a:solidFill>
          <a:ln cap="flat" cmpd="sng" w="9525">
            <a:solidFill>
              <a:srgbClr val="C7C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9835991" y="1747718"/>
            <a:ext cx="448628" cy="448628"/>
          </a:xfrm>
          <a:prstGeom prst="roundRect">
            <a:avLst>
              <a:gd fmla="val 20380105" name="adj"/>
            </a:avLst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4" name="Google Shape;11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59340" y="1845826"/>
            <a:ext cx="201811" cy="25229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9835991" y="2345888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Tailwind CSS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9835991" y="2669143"/>
            <a:ext cx="4113848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Diseño responsivo y atractivo, desarrollo visual rápido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523399" y="3472934"/>
            <a:ext cx="149543" cy="1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523399" y="3711892"/>
            <a:ext cx="4428173" cy="1524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23399" y="3817144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3"/>
          <p:cNvSpPr/>
          <p:nvPr/>
        </p:nvSpPr>
        <p:spPr>
          <a:xfrm>
            <a:off x="523399" y="4140398"/>
            <a:ext cx="4428173" cy="47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 rápida: stock total, productos de mayor rotación, alertas críticas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5101114" y="3472934"/>
            <a:ext cx="149543" cy="1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3"/>
          <p:cNvSpPr/>
          <p:nvPr/>
        </p:nvSpPr>
        <p:spPr>
          <a:xfrm>
            <a:off x="5101114" y="3711892"/>
            <a:ext cx="4428173" cy="1524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5101114" y="3817144"/>
            <a:ext cx="1974294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Gestor de Stock Madre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3"/>
          <p:cNvSpPr/>
          <p:nvPr/>
        </p:nvSpPr>
        <p:spPr>
          <a:xfrm>
            <a:off x="5101114" y="4140398"/>
            <a:ext cx="4428173" cy="4783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Tabla consolidada con buscador, filtros por categoría, estado visual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3"/>
          <p:cNvSpPr/>
          <p:nvPr/>
        </p:nvSpPr>
        <p:spPr>
          <a:xfrm>
            <a:off x="9678829" y="3472934"/>
            <a:ext cx="149543" cy="1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3"/>
          <p:cNvSpPr/>
          <p:nvPr/>
        </p:nvSpPr>
        <p:spPr>
          <a:xfrm>
            <a:off x="9678829" y="3711892"/>
            <a:ext cx="4428173" cy="1524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"/>
          <p:cNvSpPr/>
          <p:nvPr/>
        </p:nvSpPr>
        <p:spPr>
          <a:xfrm>
            <a:off x="9678829" y="3817144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Vistas por Canal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3"/>
          <p:cNvSpPr/>
          <p:nvPr/>
        </p:nvSpPr>
        <p:spPr>
          <a:xfrm>
            <a:off x="9678829" y="4140398"/>
            <a:ext cx="4428173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Sincronización WordPress y Mercado Libre, productos publicados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23399" y="4880491"/>
            <a:ext cx="149543" cy="1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23399" y="5119449"/>
            <a:ext cx="6717030" cy="1524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523399" y="5224701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Órdenes B2B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3"/>
          <p:cNvSpPr/>
          <p:nvPr/>
        </p:nvSpPr>
        <p:spPr>
          <a:xfrm>
            <a:off x="523399" y="5547955"/>
            <a:ext cx="6717030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Generación CSV, carga de órdenes, actualización automática de stock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3"/>
          <p:cNvSpPr/>
          <p:nvPr/>
        </p:nvSpPr>
        <p:spPr>
          <a:xfrm>
            <a:off x="7389971" y="4880491"/>
            <a:ext cx="149543" cy="18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3"/>
          <p:cNvSpPr/>
          <p:nvPr/>
        </p:nvSpPr>
        <p:spPr>
          <a:xfrm>
            <a:off x="7389971" y="5119449"/>
            <a:ext cx="6717030" cy="15240"/>
          </a:xfrm>
          <a:prstGeom prst="rect">
            <a:avLst/>
          </a:prstGeom>
          <a:solidFill>
            <a:srgbClr val="1B1B2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3"/>
          <p:cNvSpPr/>
          <p:nvPr/>
        </p:nvSpPr>
        <p:spPr>
          <a:xfrm>
            <a:off x="7389971" y="5224701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Alertas y Admin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"/>
          <p:cNvSpPr/>
          <p:nvPr/>
        </p:nvSpPr>
        <p:spPr>
          <a:xfrm>
            <a:off x="7389971" y="5547955"/>
            <a:ext cx="6717030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Notificaciones centralizadas, gestión de usuarios, reportes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3"/>
          <p:cNvSpPr/>
          <p:nvPr/>
        </p:nvSpPr>
        <p:spPr>
          <a:xfrm>
            <a:off x="523399" y="6217087"/>
            <a:ext cx="2243138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Arquitectura SPA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523399" y="6647021"/>
            <a:ext cx="8004215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Navegación fluida y dinámica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3"/>
          <p:cNvSpPr/>
          <p:nvPr/>
        </p:nvSpPr>
        <p:spPr>
          <a:xfrm>
            <a:off x="523399" y="6938486"/>
            <a:ext cx="8004215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 independientes (.tsx)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3"/>
          <p:cNvSpPr/>
          <p:nvPr/>
        </p:nvSpPr>
        <p:spPr>
          <a:xfrm>
            <a:off x="523399" y="7229951"/>
            <a:ext cx="8004215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Hooks React: useState, useEffect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23399" y="7521416"/>
            <a:ext cx="8004215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Carga única, experiencia rápida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3"/>
          <p:cNvSpPr/>
          <p:nvPr/>
        </p:nvSpPr>
        <p:spPr>
          <a:xfrm>
            <a:off x="8900041" y="6235779"/>
            <a:ext cx="5214461" cy="1018580"/>
          </a:xfrm>
          <a:prstGeom prst="roundRect">
            <a:avLst>
              <a:gd fmla="val 6166" name="adj"/>
            </a:avLst>
          </a:prstGeom>
          <a:solidFill>
            <a:srgbClr val="1F1F2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3" name="Google Shape;143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49583" y="6434376"/>
            <a:ext cx="233601" cy="18692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3"/>
          <p:cNvSpPr/>
          <p:nvPr/>
        </p:nvSpPr>
        <p:spPr>
          <a:xfrm>
            <a:off x="9432727" y="6422708"/>
            <a:ext cx="1869281" cy="2336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Actual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3"/>
          <p:cNvSpPr/>
          <p:nvPr/>
        </p:nvSpPr>
        <p:spPr>
          <a:xfrm>
            <a:off x="9432727" y="6805851"/>
            <a:ext cx="4532233" cy="239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Prototipo funcional completo, interfaz terminada, lógica validada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4"/>
          <p:cNvSpPr/>
          <p:nvPr/>
        </p:nvSpPr>
        <p:spPr>
          <a:xfrm>
            <a:off x="527923" y="420529"/>
            <a:ext cx="9095899" cy="471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Arial"/>
              <a:buNone/>
            </a:pPr>
            <a:r>
              <a:rPr lang="es-CL" sz="29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Programación Back-End</a:t>
            </a:r>
            <a:endParaRPr sz="2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27923" y="1413986"/>
            <a:ext cx="4424363" cy="884277"/>
          </a:xfrm>
          <a:prstGeom prst="roundRect">
            <a:avLst>
              <a:gd fmla="val 7165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86276" y="1572339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Objetivo Principal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86276" y="1898571"/>
            <a:ext cx="410765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Consistencia y sincronización de stock en tiempo real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/>
          <p:nvPr/>
        </p:nvSpPr>
        <p:spPr>
          <a:xfrm>
            <a:off x="5103019" y="1413986"/>
            <a:ext cx="4424363" cy="884277"/>
          </a:xfrm>
          <a:prstGeom prst="roundRect">
            <a:avLst>
              <a:gd fmla="val 7165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5261372" y="1572339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Arquitectura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4"/>
          <p:cNvSpPr/>
          <p:nvPr/>
        </p:nvSpPr>
        <p:spPr>
          <a:xfrm>
            <a:off x="5261372" y="1898571"/>
            <a:ext cx="410765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React + TypeScript + Supabase (PostgreSQL)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4"/>
          <p:cNvSpPr/>
          <p:nvPr/>
        </p:nvSpPr>
        <p:spPr>
          <a:xfrm>
            <a:off x="9678114" y="1413986"/>
            <a:ext cx="4424363" cy="884277"/>
          </a:xfrm>
          <a:prstGeom prst="roundRect">
            <a:avLst>
              <a:gd fmla="val 7165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9836468" y="1572339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Canales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4"/>
          <p:cNvSpPr/>
          <p:nvPr/>
        </p:nvSpPr>
        <p:spPr>
          <a:xfrm>
            <a:off x="9836468" y="1898571"/>
            <a:ext cx="410765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Tienda física, web, Mercado Libre y B2B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4"/>
          <p:cNvSpPr/>
          <p:nvPr/>
        </p:nvSpPr>
        <p:spPr>
          <a:xfrm>
            <a:off x="527923" y="2618661"/>
            <a:ext cx="2507456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Módulo StockManager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4"/>
          <p:cNvSpPr/>
          <p:nvPr/>
        </p:nvSpPr>
        <p:spPr>
          <a:xfrm>
            <a:off x="527923" y="3052167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Gestión CRUD de productos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4"/>
          <p:cNvSpPr/>
          <p:nvPr/>
        </p:nvSpPr>
        <p:spPr>
          <a:xfrm>
            <a:off x="527923" y="3346252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Validación de SKU duplicados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4"/>
          <p:cNvSpPr/>
          <p:nvPr/>
        </p:nvSpPr>
        <p:spPr>
          <a:xfrm>
            <a:off x="527923" y="3640336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Actualización incremental de stock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4"/>
          <p:cNvSpPr/>
          <p:nvPr/>
        </p:nvSpPr>
        <p:spPr>
          <a:xfrm>
            <a:off x="527923" y="3934420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Indicadores visuales de estado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4"/>
          <p:cNvSpPr/>
          <p:nvPr/>
        </p:nvSpPr>
        <p:spPr>
          <a:xfrm>
            <a:off x="7506772" y="2618661"/>
            <a:ext cx="2684859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Módulo PurchaseOrders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/>
          <p:nvPr/>
        </p:nvSpPr>
        <p:spPr>
          <a:xfrm>
            <a:off x="7506772" y="3052167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Generación de plantillas CSV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4"/>
          <p:cNvSpPr/>
          <p:nvPr/>
        </p:nvSpPr>
        <p:spPr>
          <a:xfrm>
            <a:off x="7506772" y="3346252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Importación automática de órdenes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4"/>
          <p:cNvSpPr/>
          <p:nvPr/>
        </p:nvSpPr>
        <p:spPr>
          <a:xfrm>
            <a:off x="7506772" y="3640336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Descuento automático de stock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4"/>
          <p:cNvSpPr/>
          <p:nvPr/>
        </p:nvSpPr>
        <p:spPr>
          <a:xfrm>
            <a:off x="7506772" y="3934420"/>
            <a:ext cx="6603325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Char char="•"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Alertas de stock bajo (&lt; 20 unidades)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4"/>
          <p:cNvSpPr/>
          <p:nvPr/>
        </p:nvSpPr>
        <p:spPr>
          <a:xfrm>
            <a:off x="527923" y="5569029"/>
            <a:ext cx="13574554" cy="15240"/>
          </a:xfrm>
          <a:prstGeom prst="roundRect">
            <a:avLst>
              <a:gd fmla="val 41571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"/>
          <p:cNvSpPr/>
          <p:nvPr/>
        </p:nvSpPr>
        <p:spPr>
          <a:xfrm>
            <a:off x="3866793" y="5116592"/>
            <a:ext cx="15240" cy="452438"/>
          </a:xfrm>
          <a:prstGeom prst="roundRect">
            <a:avLst>
              <a:gd fmla="val 41571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"/>
          <p:cNvSpPr/>
          <p:nvPr/>
        </p:nvSpPr>
        <p:spPr>
          <a:xfrm>
            <a:off x="3704749" y="5399365"/>
            <a:ext cx="339328" cy="339328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"/>
          <p:cNvSpPr/>
          <p:nvPr/>
        </p:nvSpPr>
        <p:spPr>
          <a:xfrm>
            <a:off x="3761303" y="5427643"/>
            <a:ext cx="226219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4"/>
          <p:cNvSpPr/>
          <p:nvPr/>
        </p:nvSpPr>
        <p:spPr>
          <a:xfrm>
            <a:off x="2693194" y="4398169"/>
            <a:ext cx="2362438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Sincronización Multicanal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4"/>
          <p:cNvSpPr/>
          <p:nvPr/>
        </p:nvSpPr>
        <p:spPr>
          <a:xfrm>
            <a:off x="678656" y="4724400"/>
            <a:ext cx="6391513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b="1"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Stock Madre:</a:t>
            </a: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Inventario central principal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4"/>
          <p:cNvSpPr/>
          <p:nvPr/>
        </p:nvSpPr>
        <p:spPr>
          <a:xfrm>
            <a:off x="7307461" y="5569029"/>
            <a:ext cx="15240" cy="452438"/>
          </a:xfrm>
          <a:prstGeom prst="roundRect">
            <a:avLst>
              <a:gd fmla="val 41571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/>
          <p:nvPr/>
        </p:nvSpPr>
        <p:spPr>
          <a:xfrm>
            <a:off x="7145417" y="5399365"/>
            <a:ext cx="339328" cy="339328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/>
          <p:nvPr/>
        </p:nvSpPr>
        <p:spPr>
          <a:xfrm>
            <a:off x="7201972" y="5427643"/>
            <a:ext cx="226219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4"/>
          <p:cNvSpPr/>
          <p:nvPr/>
        </p:nvSpPr>
        <p:spPr>
          <a:xfrm>
            <a:off x="6372344" y="6172319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Canal Web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"/>
          <p:cNvSpPr/>
          <p:nvPr/>
        </p:nvSpPr>
        <p:spPr>
          <a:xfrm>
            <a:off x="4119324" y="6498550"/>
            <a:ext cx="6391632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b="1"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Stock Web:</a:t>
            </a: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Sincronización con WordPress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0748248" y="5116592"/>
            <a:ext cx="15240" cy="452438"/>
          </a:xfrm>
          <a:prstGeom prst="roundRect">
            <a:avLst>
              <a:gd fmla="val 41571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4"/>
          <p:cNvSpPr/>
          <p:nvPr/>
        </p:nvSpPr>
        <p:spPr>
          <a:xfrm>
            <a:off x="10586204" y="5399365"/>
            <a:ext cx="339328" cy="339328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"/>
          <p:cNvSpPr/>
          <p:nvPr/>
        </p:nvSpPr>
        <p:spPr>
          <a:xfrm>
            <a:off x="10642759" y="5427643"/>
            <a:ext cx="226219" cy="2827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9813131" y="4398169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Mercado Libre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7560112" y="4724400"/>
            <a:ext cx="6391632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b="1"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Stock ML:</a:t>
            </a: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Integración con API externa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527923" y="6909554"/>
            <a:ext cx="4424363" cy="899517"/>
          </a:xfrm>
          <a:prstGeom prst="roundRect">
            <a:avLst>
              <a:gd fmla="val 8132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4"/>
          <p:cNvSpPr/>
          <p:nvPr/>
        </p:nvSpPr>
        <p:spPr>
          <a:xfrm>
            <a:off x="512683" y="6909554"/>
            <a:ext cx="60960" cy="899517"/>
          </a:xfrm>
          <a:prstGeom prst="roundRect">
            <a:avLst>
              <a:gd fmla="val 103928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4"/>
          <p:cNvSpPr/>
          <p:nvPr/>
        </p:nvSpPr>
        <p:spPr>
          <a:xfrm>
            <a:off x="739616" y="7075527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Seguridad RLS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739616" y="7401758"/>
            <a:ext cx="404669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Row Level Security en Supabase con políticas por rol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5103019" y="6909554"/>
            <a:ext cx="4424363" cy="899517"/>
          </a:xfrm>
          <a:prstGeom prst="roundRect">
            <a:avLst>
              <a:gd fmla="val 8132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4"/>
          <p:cNvSpPr/>
          <p:nvPr/>
        </p:nvSpPr>
        <p:spPr>
          <a:xfrm>
            <a:off x="5087779" y="6909554"/>
            <a:ext cx="60960" cy="899517"/>
          </a:xfrm>
          <a:prstGeom prst="roundRect">
            <a:avLst>
              <a:gd fmla="val 103928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"/>
          <p:cNvSpPr/>
          <p:nvPr/>
        </p:nvSpPr>
        <p:spPr>
          <a:xfrm>
            <a:off x="5314712" y="7075527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Modelo Relacional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/>
          <p:nvPr/>
        </p:nvSpPr>
        <p:spPr>
          <a:xfrm>
            <a:off x="5314712" y="7401758"/>
            <a:ext cx="404669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Categorías → Productos → Orders → Order Items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9678114" y="6909554"/>
            <a:ext cx="4424363" cy="899517"/>
          </a:xfrm>
          <a:prstGeom prst="roundRect">
            <a:avLst>
              <a:gd fmla="val 8132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4"/>
          <p:cNvSpPr/>
          <p:nvPr/>
        </p:nvSpPr>
        <p:spPr>
          <a:xfrm>
            <a:off x="9662874" y="6909554"/>
            <a:ext cx="60960" cy="899517"/>
          </a:xfrm>
          <a:prstGeom prst="roundRect">
            <a:avLst>
              <a:gd fmla="val 103928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4"/>
          <p:cNvSpPr/>
          <p:nvPr/>
        </p:nvSpPr>
        <p:spPr>
          <a:xfrm>
            <a:off x="9889808" y="7075527"/>
            <a:ext cx="1885474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586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450"/>
              <a:buFont typeface="Arial"/>
              <a:buNone/>
            </a:pPr>
            <a:r>
              <a:rPr lang="es-CL" sz="14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Trazabilidad Total</a:t>
            </a:r>
            <a:endParaRPr sz="14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9889808" y="7401758"/>
            <a:ext cx="4046696" cy="24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5217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Control completo de inventario y órdenes B2B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/>
          <p:nvPr/>
        </p:nvSpPr>
        <p:spPr>
          <a:xfrm>
            <a:off x="2313789" y="420528"/>
            <a:ext cx="2858837" cy="471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Arial"/>
              <a:buNone/>
            </a:pPr>
            <a:r>
              <a:rPr lang="es-CL" sz="29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As Is</a:t>
            </a:r>
            <a:endParaRPr sz="2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5"/>
          <p:cNvSpPr/>
          <p:nvPr/>
        </p:nvSpPr>
        <p:spPr>
          <a:xfrm>
            <a:off x="9333411" y="420529"/>
            <a:ext cx="3076145" cy="471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Arial"/>
              <a:buNone/>
            </a:pPr>
            <a:r>
              <a:rPr lang="es-CL" sz="29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To Be</a:t>
            </a:r>
            <a:endParaRPr sz="2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5" name="Google Shape;20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572" y="1639957"/>
            <a:ext cx="6607272" cy="5913782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  <p:pic>
        <p:nvPicPr>
          <p:cNvPr id="206" name="Google Shape;20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15200" y="1639957"/>
            <a:ext cx="7112569" cy="5605669"/>
          </a:xfrm>
          <a:prstGeom prst="rect">
            <a:avLst/>
          </a:prstGeom>
          <a:noFill/>
          <a:ln cap="sq" cmpd="sng" w="381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2745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/>
          <p:nvPr/>
        </p:nvSpPr>
        <p:spPr>
          <a:xfrm>
            <a:off x="5631425" y="420528"/>
            <a:ext cx="3367549" cy="4712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4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50"/>
              <a:buFont typeface="Arial"/>
              <a:buNone/>
            </a:pPr>
            <a:r>
              <a:rPr lang="es-CL" sz="29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Burn-down Chart</a:t>
            </a:r>
            <a:endParaRPr sz="29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2" name="Google Shape;2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4685" y="1277066"/>
            <a:ext cx="6153909" cy="311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0834" y="1277066"/>
            <a:ext cx="6212010" cy="3112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94685" y="4925127"/>
            <a:ext cx="6153909" cy="308988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40834" y="4912166"/>
            <a:ext cx="6212010" cy="3115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7"/>
          <p:cNvSpPr/>
          <p:nvPr/>
        </p:nvSpPr>
        <p:spPr>
          <a:xfrm>
            <a:off x="5907522" y="609600"/>
            <a:ext cx="2830595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RoadMap OldTree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49223" y="1408390"/>
            <a:ext cx="2698790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Objetivo del Proyecto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449223" y="1921788"/>
            <a:ext cx="4491752" cy="754737"/>
          </a:xfrm>
          <a:prstGeom prst="roundRect">
            <a:avLst>
              <a:gd fmla="val 714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585192" y="2057757"/>
            <a:ext cx="1695212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Sistema Centralizado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585192" y="2335292"/>
            <a:ext cx="4219813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Gestión unificada de stock para Old Tree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069324" y="1921788"/>
            <a:ext cx="4491752" cy="754737"/>
          </a:xfrm>
          <a:prstGeom prst="roundRect">
            <a:avLst>
              <a:gd fmla="val 714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5205293" y="2057757"/>
            <a:ext cx="1882616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Entregas Incrementales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205293" y="2335292"/>
            <a:ext cx="4219813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Validación progresiva con cliente cada 3 semanas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9689425" y="1921788"/>
            <a:ext cx="4491752" cy="754737"/>
          </a:xfrm>
          <a:prstGeom prst="roundRect">
            <a:avLst>
              <a:gd fmla="val 714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7"/>
          <p:cNvSpPr/>
          <p:nvPr/>
        </p:nvSpPr>
        <p:spPr>
          <a:xfrm>
            <a:off x="9825395" y="2057757"/>
            <a:ext cx="1604486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Escalable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9825395" y="2335292"/>
            <a:ext cx="4219813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Arquitectura preparada para crecimiento futuro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49223" y="2869049"/>
            <a:ext cx="4628317" cy="32087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Cronograma Simplificado de Sprints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307580" y="3382447"/>
            <a:ext cx="15240" cy="4496038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6801029" y="3519130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7170837" y="3382447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7218878" y="3406438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773573" y="3426500"/>
            <a:ext cx="1899880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0 - Configuración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49223" y="3704034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Entornos, repositorios GitHub, arquitectura preliminar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7444323" y="4289227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7170837" y="4152543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7218878" y="4176534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7956947" y="4196596"/>
            <a:ext cx="2119074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1 - Productos y Stock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7956947" y="4474131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Base de datos Supabase, autenticación por roles, interfaz inicial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6801029" y="4953000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7170837" y="4816316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7218878" y="4840307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424482" y="4860369"/>
            <a:ext cx="2248972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2 - Registro de Ventas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449223" y="5137904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Formularios ventas físicas y B2B, actualización automática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7444323" y="5616773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7170837" y="5480090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7218878" y="5504081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7956947" y="5524143"/>
            <a:ext cx="2529959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3 - Reportes y Dashboard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7956947" y="5801678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Módulo reportes diarios, integración web/API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6801029" y="6280547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7170837" y="6143863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7218878" y="6167854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4197548" y="6187916"/>
            <a:ext cx="2475905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4 - Pruebas y Despliegue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49223" y="6465451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Testing completo, correcciones, hosting productivo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7444323" y="6944320"/>
            <a:ext cx="385048" cy="15240"/>
          </a:xfrm>
          <a:prstGeom prst="roundRect">
            <a:avLst>
              <a:gd fmla="val 353758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7170837" y="6807637"/>
            <a:ext cx="288727" cy="288727"/>
          </a:xfrm>
          <a:prstGeom prst="roundRect">
            <a:avLst>
              <a:gd fmla="val 18673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7218878" y="6831628"/>
            <a:ext cx="192524" cy="240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7956947" y="6851690"/>
            <a:ext cx="2053471" cy="2006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5 - Documentación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7956947" y="7129224"/>
            <a:ext cx="6224230" cy="2052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Manuales, capacitación, presentación final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8" name="Google Shape;268;p8"/>
          <p:cNvGraphicFramePr/>
          <p:nvPr/>
        </p:nvGraphicFramePr>
        <p:xfrm>
          <a:off x="79514" y="149252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{5B702B1D-EBA8-4EEC-96E5-672A81551BAB}</a:tableStyleId>
              </a:tblPr>
              <a:tblGrid>
                <a:gridCol w="415150"/>
                <a:gridCol w="4819725"/>
                <a:gridCol w="725675"/>
                <a:gridCol w="4665675"/>
                <a:gridCol w="390225"/>
                <a:gridCol w="1496475"/>
                <a:gridCol w="1034125"/>
                <a:gridCol w="407500"/>
                <a:gridCol w="516825"/>
              </a:tblGrid>
              <a:tr h="1143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ID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Summary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Issue Type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Description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Priority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Labels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Epic Link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Assignee</a:t>
                      </a:r>
                      <a:endParaRPr b="1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Configurar entorno de desarrollo y repositorio Git.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Establecer un entorno de desarrollo estandarizado y configurar el repositorio de control de versiones (Git) para el equipo.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Setup, DevOps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Benjamin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Diseño inicial de la arquitectura de la base de datos (productos, stock, transacciones).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Diseñar el esquema inicial de la base de datos para los objetos centrales: productos, inventario, y registros de transacciones de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Base de Datos, Arquitectura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Configuración de un micro-servicio base para la gestión de productos (backend).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Establecer la estructura inicial de un micro-servicio para el manejo de productos, incluyendo controladores, modelos y un servicio básico de API.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Backend, Arquitectura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Investigación y prueba de conectividad con APIs de Mercado Libre.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Investigar la documentación de la API de Mercado Libre y realizar pruebas de conectividad básica (ej. obtener token de acceso).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Integraciones, MercadoLibre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Martin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Investigación y prueba de conectividad con APIs de WooCommerce.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Investigar la documentación de la API de WooCommerce y realizar pruebas de conectividad básica (ej. listar productos).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Integraciones, WooCommerce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Martin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Configuración de entorno de despliegue continuo (CI/CD) básico.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Technical Task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Configurar un pipeline de integración continua y despliegue continuo básico para automatizar la construcción y el despliegue del micro-servicio.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Media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Técnico, DevOps, CI/CD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Preparación del Proyecto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Benjamin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crear nuevos productos en el sistema, para poder gestionar su inventario desde el inicio.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crear nuevos productos en el sistema, para poder gestionar su inventario desde el inicio.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Stock, Producto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Productos y Stock Base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editar la información de un producto existente, para corregir errores o actualizar sus detalles.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editar la información de un producto existente, para corregir errores o actualizar sus detalles.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Stock, Producto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Productos y Stock Base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eliminar un producto del sistema, para mantener el catálogo limpio de productos descontinuados.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eliminar un producto del sistema, para mantener el catálogo limpio de productos descontinuados.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Media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Stock, Producto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Productos y Stock Base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ajustar el stock de un producto manualmente, para corregir discrepancias o registrar movimientos internos no automatizados.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ajustar el stock de un producto manualmente, para corregir discrepancias o registrar movimientos internos no automatizados.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Stock, Inventario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Productos y Stock Base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Usuario, quiero iniciar sesión de forma segura en el sistema, para acceder a mis funcionalidades asignadas.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Usuario, quiero iniciar sesión de forma segura en el sistema, para acceder a mis funcionalidades asignadas.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Usuarios, Autenticación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Usuarios y Roles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Nicolas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configurar la integración con Mercado Libre, para sincronizar automáticamente el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configurar la integración con Mercado Libre, para sincronizar automáticamente el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MercadoLibre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Martin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definir la frecuencia de sincronización de stock con cada canal, para optimizar el rendimiento y la precisión.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definir la frecuencia de sincronización de stock con cada canal, para optimizar el rendimiento y la precisión.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Configuración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Martin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el sistema, quiero recibir notificaciones de venta de Mercado Libre, para decrementar el stock central automáticamente.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el sistema, quiero recibir notificaciones de venta de Mercado Libre, para decrementar el stock central automáticamente.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MercadoLibre,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Nicolas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ver un panel de control con el stock actual por producto y canal, para tener una visión consolidada del inventario.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ver un panel de control con el stock actual por producto y canal, para tener una visión consolidada del inventario.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Reportes, Dashboard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 y Analíticas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configurar la integración con WooCommerce (Tienda Propia), para sincronizar automáticamente el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configurar la integración con WooCommerce (Tienda Propia), para sincronizar automáticamente el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WooCommerce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Martin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2394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el sistema, quiero recibir notificaciones de venta de WooCommerce, para decrementar el stock central automáticamente.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el sistema, quiero recibir notificaciones de venta de WooCommerce, para decrementar el stock central automáticamente.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WooCommerce,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Nicolas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actualizar masivamente el stock de los canales de venta, para reflejar cambios grandes o iniciales.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actualizar masivamente el stock de los canales de venta, para reflejar cambios grandes o iniciales.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Media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Integraciones,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Matias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registrar manualmente ventas B2B, para decrementar el stock central y mantener la consistencia.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registrar manualmente ventas B2B, para decrementar el stock central y mantener la consistencia.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Gestión de Stock, B2B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Integraciones y Sincronización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Nicolas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generar un reporte de ventas por canal y período, para analizar el rendimiento de cada plataforma.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generar un reporte de ventas por canal y período, para analizar el rendimiento de cada plataforma.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Reportes, Ventas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 y Analíticas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Benjamin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  <a:tr h="122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un reporte de stock crítico, para identificar productos que están por debajo de su umbral mínimo.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Story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Como Administrador, quiero un reporte de stock crítico, para identificar productos que están por debajo de su umbral mínimo.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Alta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Reportes, Alertas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Reportes y Analíticas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Benjamin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825" marB="0" marR="4825" marL="4825" anchor="b"/>
                </a:tc>
              </a:tr>
            </a:tbl>
          </a:graphicData>
        </a:graphic>
      </p:graphicFrame>
      <p:sp>
        <p:nvSpPr>
          <p:cNvPr id="269" name="Google Shape;269;p8"/>
          <p:cNvSpPr/>
          <p:nvPr/>
        </p:nvSpPr>
        <p:spPr>
          <a:xfrm>
            <a:off x="6029922" y="532743"/>
            <a:ext cx="2570556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Product Backlog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"/>
          <p:cNvSpPr/>
          <p:nvPr/>
        </p:nvSpPr>
        <p:spPr>
          <a:xfrm>
            <a:off x="5907522" y="609600"/>
            <a:ext cx="3753313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Criterios de Aceptación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75" name="Google Shape;275;p9"/>
          <p:cNvGraphicFramePr/>
          <p:nvPr/>
        </p:nvGraphicFramePr>
        <p:xfrm>
          <a:off x="447261" y="1589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{5B702B1D-EBA8-4EEC-96E5-672A81551BAB}</a:tableStyleId>
              </a:tblPr>
              <a:tblGrid>
                <a:gridCol w="632775"/>
                <a:gridCol w="632775"/>
                <a:gridCol w="12549850"/>
              </a:tblGrid>
              <a:tr h="13790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ID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Criterios de Aceptación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Repositorio Git inicializado y accesible para ambos DEV.\n* Herramientas de desarrollo (IDE, gestor de paquetes) instaladas y configuradas.\n* Convenciones de código y ramas definidas y documentadas.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Modelo de entidad-relación (ERD) inicial para productos, stock y movimientos aprobado.\n* Migraciones de base de datos iniciales creadas y probadas localmente.\n* Selección de la tecnología de base de datos confirmada.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Proyecto de micro-servicio inicializado con framework backend seleccionado.\n* Endpoint de prueba para 'hello world' o similar funcional.\n* Contenedor Docker básico para el servicio configurado.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Documentación de la API de Mercado Libre revisada y comprendida.\n* Obtención exitosa de un token de acceso a la API de Mercado Libre.\n* Endpoint de prueba de la API de Mercado Libre invocado exitosamente desde el entorno de desarrollo.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Documentación de la API de WooCommerce revisada y comprendida.\n* Conexión exitosa a una instancia de WooCommerce (test) usando las claves API.\n* Endpoint de prueba de la API de WooCommerce invocado exitosamente (ej. obtener lista de productos).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Pipeline CI/CD configurado para el micro-servicio de productos.\n* Build automático disparado por cada push a la rama principal.\n* Despliegue automático a un entorno de staging/desarrollo funcional.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ingresar el nombre, descripción, SKU, precio de venta y stock inicial.\n* El producto debe aparecer en el listado general de productos.\n* Debo poder asociar el producto a una categoría existente o crear una nueva.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modificar el nombre, descripción, SKU, precio y stock de cualquier producto.\n* Los cambios deben reflejarse inmediatamente en la ficha del producto.\n* El sistema debe registrar quién realizó la última modificación y cuándo.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sistema debe solicitar una confirmación antes de la eliminación.\n* Un producto eliminado no debe aparecer en los listados activos ni reportes futuros.\n* Si un producto tiene movimientos históricos, la eliminación debe ser lógica, no física.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incrementar o decrementar el stock de un producto específico.\n* El sistema debe requerir una justificación para el ajuste manual.\n* El ajuste debe generar un registro en el historial de movimientos de stock.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ingresar mi email y contraseña para acceder.\n* El sistema debe mostrar un mensaje de error si las credenciales son incorrectas.\n* Después de varios intentos fallidos, la cuenta debe ser bloqueada temporalmente.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ingresar las credenciales de la API de Mercado Libre.\n* El sistema debe validar la conexión con Mercado Libre.\n* Debo poder mapear los productos del sistema con los de Mercado Libre.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seleccionar opciones como "cada 5 minutos", "cada hora", "diario".\n* La configuración de frecuencia debe ser independiente para cada canal.\n* El sistema debe aplicar la frecuencia seleccionada para las actualizaciones.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Al recibir una venta, el stock central debe actualizarse en tiempo real o casi real.\n* La venta debe generar un registro de movimiento de stock.\n* Si el stock llega a cero, el sistema debe pausar la publicación en otros canales si es configurado.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SSMS-19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panel debe mostrar el stock total y el stock disponible por cada canal.\n* Debo poder filtrar por producto, categoría o canal.\n* La información debe estar actualizada en tiempo real o casi real.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ingresar la URL de la tienda y las claves de la API de WooCommerce.\n* El sistema debe validar la conexión con WooCommerce.\n* Debo poder mapear los productos del sistema con los de WooCommerce.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Al recibir una venta, el stock central debe actualizarse en tiempo real o casi real.\n* La venta debe generar un registro de movimiento de stock.\n* Si el stock llega a cero, el sistema debe pausar la publicación en otros canales si es configurado.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seleccionar los productos y los canales a actualizar.\n* El sistema debe confirmar la finalización de la actualización masiva.\n* Los stocks en los canales externos deben coincidir con el stock central después de la actualización.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seleccionar los productos y cantidades vendidas en una transacción B2B.\n* El sistema debe generar un registro de esta venta.\n* El stock de los productos afectados debe decrementar en el sistema central.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seleccionar un rango de fechas.\n* El reporte debe mostrar el volumen de ventas y los ingresos por canal.\n* Debo poder exportar el reporte en CSV/Excel.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reporte debe listar los productos con stock bajo o en cero.\n* Debo poder definir un umbral de stock mínimo por producto.\n* El reporte debe ser accesible fácilmente desde el panel principal.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reporte debe mostrar la rotación de cada producto en un período definido.\n* Debo poder ordenar los productos por su índice de rotación.\n* El sistema debe calcular la rotación basándose en ventas y stock promedio.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SSMS-29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asignar nombre, email y contraseña a cada usuario.\n* Debo poder activar/desactivar usuarios.\n* Cada usuario debe tener un rol asignado.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Deben existir roles predefinidos (Administrador, Vendedor, Supervisor).\n* Debo poder personalizar los permisos para cada rol (ej: solo ver reportes, editar stock).\n* Un usuario con rol "Vendedor" no debe poder acceder a la configuración de integraciones.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definir el umbral de stock crítico por producto o a nivel general.\n* El correo debe incluir el nombre del producto, SKU y stock actual.\n* Las alertas deben ser configurables para distintos destinatarios.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SSMS-32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La notificación debe especificar el canal y la razón del fallo (si es posible).\n* Debo poder ver un historial de fallos de sincronización.\n* El sistema debe intentar reintentar la sincronización después de un fallo.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23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SSMS-33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4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La alerta debe activarse si el stock central de un producto cae por debajo de cero.\n* La notificación debe incluir el producto afectado y el canal donde ocurrió la sobreventa.\n* El sistema debe permitir configurar cómo manejar las sobreventas (ej: pausar automáticamente la publicación en otros canales).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sistema debe proporcionar una plantilla descargable para la importación.\n* Debo recibir una notificación si hay errores en el formato del archivo o datos duplicados.\n* Los productos importados deben aparecer en el listado de productos con su stock inicial.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SSMS-36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archivo exportado debe incluir al menos SKU, nombre del producto y stock actual.\n* Debo poder seleccionar los campos a exportar.\n* La exportación debe completarse en un tiempo razonable para volúmenes grandes de datos.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SSMS-37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historial debe mostrar la fecha, hora, tipo de movimiento (venta, ajuste, entrada), cantidad y usuario que lo realizó.\n* Debo poder filtrar por tipo de movimiento o rango de fechas.\n* El historial debe ser inmutable.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SSMS-38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activar/desactivar esta funcionalidad globalmente o por producto.\n* El sistema debe enviar una notificación cuando una publicación sea pausada automáticamente.\n* Al reponer stock, el sistema debe permitir reanudar la publicación manualmente.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SSMS-39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Debo poder seleccionar los productos o categorías a los que aplicar el cambio de precio.\n* Debo poder definir el porcentaje o valor fijo del ajuste, y la fecha de aplicación.\n* El sistema debe registrar los cambios de precios programados y ejecutados.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2377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SSMS-40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diseño de las integraciones debe seguir un patrón que permita añadir nuevos conectores sin reescribir el core.\n* Las APIs internas deben estar bien documentadas para futuros desarrollos.\n* El equipo de desarrollo debe confirmar la capacidad de agregar nuevos canales en futuros sprints.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  <a:tr h="137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SSMS-41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Sprint 5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900" u="none" cap="none" strike="noStrike"/>
                        <a:t>* El sistema debe registrar eventos importantes (sincronizaciones, errores, ventas, ajustes).\n* Los logs deben ser accesibles y legibles para el equipo de desarrollo.\n* Debe haber niveles de logging configurables (debug, info, error).</a:t>
                      </a:r>
                      <a:endParaRPr b="0" i="0" sz="9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6575" marB="0" marR="6575" marL="6575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0"/>
          <p:cNvSpPr/>
          <p:nvPr/>
        </p:nvSpPr>
        <p:spPr>
          <a:xfrm>
            <a:off x="6009799" y="672941"/>
            <a:ext cx="8097203" cy="934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00"/>
              <a:buFont typeface="Arial"/>
              <a:buNone/>
            </a:pPr>
            <a:r>
              <a:rPr lang="es-CL" sz="29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Product Vision Statement</a:t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0"/>
          <p:cNvSpPr/>
          <p:nvPr/>
        </p:nvSpPr>
        <p:spPr>
          <a:xfrm>
            <a:off x="6025039" y="1772398"/>
            <a:ext cx="8097203" cy="705803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10"/>
          <p:cNvSpPr/>
          <p:nvPr/>
        </p:nvSpPr>
        <p:spPr>
          <a:xfrm>
            <a:off x="6040279" y="1787637"/>
            <a:ext cx="892596" cy="686785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0"/>
          <p:cNvSpPr/>
          <p:nvPr/>
        </p:nvSpPr>
        <p:spPr>
          <a:xfrm>
            <a:off x="6187358" y="2057612"/>
            <a:ext cx="224400" cy="28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PARA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0"/>
          <p:cNvSpPr/>
          <p:nvPr/>
        </p:nvSpPr>
        <p:spPr>
          <a:xfrm>
            <a:off x="7161848" y="1971576"/>
            <a:ext cx="6945153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Oldtree, una pyme chilena de producción, venta y distribución de artículos de vestir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0"/>
          <p:cNvSpPr/>
          <p:nvPr/>
        </p:nvSpPr>
        <p:spPr>
          <a:xfrm>
            <a:off x="6011747" y="2643040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0"/>
          <p:cNvSpPr/>
          <p:nvPr/>
        </p:nvSpPr>
        <p:spPr>
          <a:xfrm>
            <a:off x="6026987" y="2658279"/>
            <a:ext cx="862116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0"/>
          <p:cNvSpPr/>
          <p:nvPr/>
        </p:nvSpPr>
        <p:spPr>
          <a:xfrm>
            <a:off x="6210158" y="2898904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10"/>
          <p:cNvSpPr/>
          <p:nvPr/>
        </p:nvSpPr>
        <p:spPr>
          <a:xfrm>
            <a:off x="7080268" y="2720524"/>
            <a:ext cx="6945153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enfrenta desafíos de descuadres de stock, sobreventa y procesos manuales ineficientes debido a la gestión fragmentada mediante planillas Excel y reportes por email/WhatsApp,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10"/>
          <p:cNvSpPr/>
          <p:nvPr/>
        </p:nvSpPr>
        <p:spPr>
          <a:xfrm>
            <a:off x="6025972" y="3516561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0"/>
          <p:cNvSpPr/>
          <p:nvPr/>
        </p:nvSpPr>
        <p:spPr>
          <a:xfrm>
            <a:off x="6041212" y="3531800"/>
            <a:ext cx="552450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0"/>
          <p:cNvSpPr/>
          <p:nvPr/>
        </p:nvSpPr>
        <p:spPr>
          <a:xfrm>
            <a:off x="6227426" y="3791000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EL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0"/>
          <p:cNvSpPr/>
          <p:nvPr/>
        </p:nvSpPr>
        <p:spPr>
          <a:xfrm>
            <a:off x="6885842" y="3753472"/>
            <a:ext cx="6945153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Sistema de Gestión y Control de Stock Unificado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10"/>
          <p:cNvSpPr/>
          <p:nvPr/>
        </p:nvSpPr>
        <p:spPr>
          <a:xfrm>
            <a:off x="6009798" y="4390082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0"/>
          <p:cNvSpPr/>
          <p:nvPr/>
        </p:nvSpPr>
        <p:spPr>
          <a:xfrm>
            <a:off x="6025038" y="4405321"/>
            <a:ext cx="690563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10"/>
          <p:cNvSpPr/>
          <p:nvPr/>
        </p:nvSpPr>
        <p:spPr>
          <a:xfrm>
            <a:off x="6241732" y="4664521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ES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0"/>
          <p:cNvSpPr/>
          <p:nvPr/>
        </p:nvSpPr>
        <p:spPr>
          <a:xfrm>
            <a:off x="6009798" y="5267277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0"/>
          <p:cNvSpPr/>
          <p:nvPr/>
        </p:nvSpPr>
        <p:spPr>
          <a:xfrm>
            <a:off x="6025038" y="5282516"/>
            <a:ext cx="892596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0"/>
          <p:cNvSpPr/>
          <p:nvPr/>
        </p:nvSpPr>
        <p:spPr>
          <a:xfrm>
            <a:off x="6241732" y="5541716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QUE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0"/>
          <p:cNvSpPr/>
          <p:nvPr/>
        </p:nvSpPr>
        <p:spPr>
          <a:xfrm>
            <a:off x="6026054" y="6143435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0"/>
          <p:cNvSpPr/>
          <p:nvPr/>
        </p:nvSpPr>
        <p:spPr>
          <a:xfrm>
            <a:off x="6011747" y="6158674"/>
            <a:ext cx="2084358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10"/>
          <p:cNvSpPr/>
          <p:nvPr/>
        </p:nvSpPr>
        <p:spPr>
          <a:xfrm>
            <a:off x="6159218" y="6414641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 DIFERENCIA DE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10"/>
          <p:cNvSpPr/>
          <p:nvPr/>
        </p:nvSpPr>
        <p:spPr>
          <a:xfrm>
            <a:off x="8366483" y="6245062"/>
            <a:ext cx="5486400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la planilla Excel actual que requiere actualización manual diaria y depende de reportes por email y mensajes de WhatsApp,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0"/>
          <p:cNvSpPr/>
          <p:nvPr/>
        </p:nvSpPr>
        <p:spPr>
          <a:xfrm>
            <a:off x="7108799" y="5372630"/>
            <a:ext cx="6743066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centraliza y actualiza automáticamente el inventario en tiempo real desde todos los canales de venta, eliminando la actualización manual diaria y convirtiéndose en la fuente única de verdad del stock.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10"/>
          <p:cNvSpPr/>
          <p:nvPr/>
        </p:nvSpPr>
        <p:spPr>
          <a:xfrm>
            <a:off x="6932295" y="4589259"/>
            <a:ext cx="6743066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una plataforma web interna basada en la nube</a:t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024105" y="7045806"/>
            <a:ext cx="8097203" cy="705802"/>
          </a:xfrm>
          <a:prstGeom prst="roundRect">
            <a:avLst>
              <a:gd fmla="val 5553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009798" y="7061045"/>
            <a:ext cx="1547884" cy="686784"/>
          </a:xfrm>
          <a:prstGeom prst="roundRect">
            <a:avLst>
              <a:gd fmla="val 7444" name="adj"/>
            </a:avLst>
          </a:prstGeom>
          <a:solidFill>
            <a:srgbClr val="3D3D4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0"/>
          <p:cNvSpPr/>
          <p:nvPr/>
        </p:nvSpPr>
        <p:spPr>
          <a:xfrm>
            <a:off x="6233884" y="7176816"/>
            <a:ext cx="224314" cy="28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NUESTRO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750"/>
              <a:buFont typeface="Arial"/>
              <a:buNone/>
            </a:pPr>
            <a:r>
              <a:rPr b="1" lang="es-CL" sz="17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PRODUCTO</a:t>
            </a:r>
            <a:endParaRPr b="1" sz="17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10"/>
          <p:cNvSpPr/>
          <p:nvPr/>
        </p:nvSpPr>
        <p:spPr>
          <a:xfrm>
            <a:off x="7696830" y="7147433"/>
            <a:ext cx="6154104" cy="8104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150"/>
              <a:buFont typeface="Arial"/>
              <a:buNone/>
            </a:pPr>
            <a:r>
              <a:rPr lang="es-CL" sz="11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automatiza el flujo de información, previene descuadres de stock, evita sobreventas y permite tomar decisiones informadas mediante acceso inmediato a datos desde cualquier ubicación.</a:t>
            </a:r>
            <a:endParaRPr sz="11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opósito - Iconos gratis de usuario" id="310" name="Google Shape;3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4979" y="1951682"/>
            <a:ext cx="4876800" cy="487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1"/>
          <p:cNvSpPr/>
          <p:nvPr/>
        </p:nvSpPr>
        <p:spPr>
          <a:xfrm>
            <a:off x="470773" y="369927"/>
            <a:ext cx="3363158" cy="420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600"/>
              <a:buFont typeface="Arial"/>
              <a:buNone/>
            </a:pPr>
            <a:r>
              <a:rPr lang="es-CL" sz="26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Release Plan</a:t>
            </a:r>
            <a:endParaRPr sz="2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1"/>
          <p:cNvSpPr/>
          <p:nvPr/>
        </p:nvSpPr>
        <p:spPr>
          <a:xfrm>
            <a:off x="7307580" y="1425893"/>
            <a:ext cx="15240" cy="4712137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1"/>
          <p:cNvSpPr/>
          <p:nvPr/>
        </p:nvSpPr>
        <p:spPr>
          <a:xfrm>
            <a:off x="6775609" y="1569601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1"/>
          <p:cNvSpPr/>
          <p:nvPr/>
        </p:nvSpPr>
        <p:spPr>
          <a:xfrm>
            <a:off x="7163872" y="1425893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11"/>
          <p:cNvSpPr/>
          <p:nvPr/>
        </p:nvSpPr>
        <p:spPr>
          <a:xfrm>
            <a:off x="7214354" y="1451134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1"/>
          <p:cNvSpPr/>
          <p:nvPr/>
        </p:nvSpPr>
        <p:spPr>
          <a:xfrm>
            <a:off x="4961096" y="1472089"/>
            <a:ext cx="1681520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0.1 - Setup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1"/>
          <p:cNvSpPr/>
          <p:nvPr/>
        </p:nvSpPr>
        <p:spPr>
          <a:xfrm>
            <a:off x="470773" y="1762839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15 Ago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0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1"/>
          <p:cNvSpPr/>
          <p:nvPr/>
        </p:nvSpPr>
        <p:spPr>
          <a:xfrm>
            <a:off x="470773" y="2058710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Entornos configurados, repositorios activos, arquitectura inicial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1"/>
          <p:cNvSpPr/>
          <p:nvPr/>
        </p:nvSpPr>
        <p:spPr>
          <a:xfrm>
            <a:off x="7451288" y="2376607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11"/>
          <p:cNvSpPr/>
          <p:nvPr/>
        </p:nvSpPr>
        <p:spPr>
          <a:xfrm>
            <a:off x="7163872" y="2232898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1"/>
          <p:cNvSpPr/>
          <p:nvPr/>
        </p:nvSpPr>
        <p:spPr>
          <a:xfrm>
            <a:off x="7214354" y="2258139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1"/>
          <p:cNvSpPr/>
          <p:nvPr/>
        </p:nvSpPr>
        <p:spPr>
          <a:xfrm>
            <a:off x="7987784" y="2279094"/>
            <a:ext cx="1681520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1.0 - MVP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1"/>
          <p:cNvSpPr/>
          <p:nvPr/>
        </p:nvSpPr>
        <p:spPr>
          <a:xfrm>
            <a:off x="7987784" y="2569845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05 Sep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1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1"/>
          <p:cNvSpPr/>
          <p:nvPr/>
        </p:nvSpPr>
        <p:spPr>
          <a:xfrm>
            <a:off x="7987784" y="2865715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Base de datos operativa, autenticación por roles, interfaz de stock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1"/>
          <p:cNvSpPr/>
          <p:nvPr/>
        </p:nvSpPr>
        <p:spPr>
          <a:xfrm>
            <a:off x="6775609" y="3072289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11"/>
          <p:cNvSpPr/>
          <p:nvPr/>
        </p:nvSpPr>
        <p:spPr>
          <a:xfrm>
            <a:off x="7163872" y="2928580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1"/>
          <p:cNvSpPr/>
          <p:nvPr/>
        </p:nvSpPr>
        <p:spPr>
          <a:xfrm>
            <a:off x="7214354" y="2953822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1"/>
          <p:cNvSpPr/>
          <p:nvPr/>
        </p:nvSpPr>
        <p:spPr>
          <a:xfrm>
            <a:off x="4961096" y="2974777"/>
            <a:ext cx="1681520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1.1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1"/>
          <p:cNvSpPr/>
          <p:nvPr/>
        </p:nvSpPr>
        <p:spPr>
          <a:xfrm>
            <a:off x="470773" y="3265527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26 Sep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2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1"/>
          <p:cNvSpPr/>
          <p:nvPr/>
        </p:nvSpPr>
        <p:spPr>
          <a:xfrm>
            <a:off x="470773" y="3561398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Registro manual de ventas con actualización automática de stock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11"/>
          <p:cNvSpPr/>
          <p:nvPr/>
        </p:nvSpPr>
        <p:spPr>
          <a:xfrm>
            <a:off x="7451288" y="3767971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1"/>
          <p:cNvSpPr/>
          <p:nvPr/>
        </p:nvSpPr>
        <p:spPr>
          <a:xfrm>
            <a:off x="7163872" y="3624263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1"/>
          <p:cNvSpPr/>
          <p:nvPr/>
        </p:nvSpPr>
        <p:spPr>
          <a:xfrm>
            <a:off x="7214354" y="3649504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1"/>
          <p:cNvSpPr/>
          <p:nvPr/>
        </p:nvSpPr>
        <p:spPr>
          <a:xfrm>
            <a:off x="7987784" y="3670459"/>
            <a:ext cx="1681520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1.2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1"/>
          <p:cNvSpPr/>
          <p:nvPr/>
        </p:nvSpPr>
        <p:spPr>
          <a:xfrm>
            <a:off x="7987784" y="3961209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17 Oct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3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1"/>
          <p:cNvSpPr/>
          <p:nvPr/>
        </p:nvSpPr>
        <p:spPr>
          <a:xfrm>
            <a:off x="7987784" y="4257080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Reportes diarios, integración con página web y API externa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1"/>
          <p:cNvSpPr/>
          <p:nvPr/>
        </p:nvSpPr>
        <p:spPr>
          <a:xfrm>
            <a:off x="6775609" y="4463653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11"/>
          <p:cNvSpPr/>
          <p:nvPr/>
        </p:nvSpPr>
        <p:spPr>
          <a:xfrm>
            <a:off x="7163872" y="4319945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1"/>
          <p:cNvSpPr/>
          <p:nvPr/>
        </p:nvSpPr>
        <p:spPr>
          <a:xfrm>
            <a:off x="7214354" y="4345186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1"/>
          <p:cNvSpPr/>
          <p:nvPr/>
        </p:nvSpPr>
        <p:spPr>
          <a:xfrm>
            <a:off x="4595693" y="4366141"/>
            <a:ext cx="2046922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2.0 - Producción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1"/>
          <p:cNvSpPr/>
          <p:nvPr/>
        </p:nvSpPr>
        <p:spPr>
          <a:xfrm>
            <a:off x="470773" y="4656892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07 Nov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4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1"/>
          <p:cNvSpPr/>
          <p:nvPr/>
        </p:nvSpPr>
        <p:spPr>
          <a:xfrm>
            <a:off x="470773" y="4952762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Validación UAT, despliegue en host, entorno productivo estable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1"/>
          <p:cNvSpPr/>
          <p:nvPr/>
        </p:nvSpPr>
        <p:spPr>
          <a:xfrm>
            <a:off x="7451288" y="5159335"/>
            <a:ext cx="403503" cy="15240"/>
          </a:xfrm>
          <a:prstGeom prst="roundRect">
            <a:avLst>
              <a:gd fmla="val 370744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1"/>
          <p:cNvSpPr/>
          <p:nvPr/>
        </p:nvSpPr>
        <p:spPr>
          <a:xfrm>
            <a:off x="7163872" y="5015627"/>
            <a:ext cx="302657" cy="302657"/>
          </a:xfrm>
          <a:prstGeom prst="roundRect">
            <a:avLst>
              <a:gd fmla="val 18668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11"/>
          <p:cNvSpPr/>
          <p:nvPr/>
        </p:nvSpPr>
        <p:spPr>
          <a:xfrm>
            <a:off x="7214354" y="5040868"/>
            <a:ext cx="201692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7987784" y="5061823"/>
            <a:ext cx="1753076" cy="2101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923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300"/>
              <a:buFont typeface="Arial"/>
              <a:buNone/>
            </a:pPr>
            <a:r>
              <a:rPr lang="es-CL" sz="13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Release Final - Cierre</a:t>
            </a:r>
            <a:endParaRPr sz="13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1"/>
          <p:cNvSpPr/>
          <p:nvPr/>
        </p:nvSpPr>
        <p:spPr>
          <a:xfrm>
            <a:off x="7987784" y="5352574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b="1"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28 Nov 2025</a:t>
            </a: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 | Sprint 5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1"/>
          <p:cNvSpPr/>
          <p:nvPr/>
        </p:nvSpPr>
        <p:spPr>
          <a:xfrm>
            <a:off x="7987784" y="5648444"/>
            <a:ext cx="6171843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None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Manual de usuario, documentación técnica, capacitación y presentación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1"/>
          <p:cNvSpPr/>
          <p:nvPr/>
        </p:nvSpPr>
        <p:spPr>
          <a:xfrm>
            <a:off x="470773" y="6423779"/>
            <a:ext cx="2401967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Estrategia de Liberación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1"/>
          <p:cNvSpPr/>
          <p:nvPr/>
        </p:nvSpPr>
        <p:spPr>
          <a:xfrm>
            <a:off x="470773" y="6810375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Review: validación funcional cada 3 semanas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1"/>
          <p:cNvSpPr/>
          <p:nvPr/>
        </p:nvSpPr>
        <p:spPr>
          <a:xfrm>
            <a:off x="470773" y="7072670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UAT previo a releases mayores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1"/>
          <p:cNvSpPr/>
          <p:nvPr/>
        </p:nvSpPr>
        <p:spPr>
          <a:xfrm>
            <a:off x="470773" y="7334964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Control de versiones en GitHub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1"/>
          <p:cNvSpPr/>
          <p:nvPr/>
        </p:nvSpPr>
        <p:spPr>
          <a:xfrm>
            <a:off x="470773" y="7597259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Despliegue en staging antes de producción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1"/>
          <p:cNvSpPr/>
          <p:nvPr/>
        </p:nvSpPr>
        <p:spPr>
          <a:xfrm>
            <a:off x="7486888" y="6423779"/>
            <a:ext cx="2211229" cy="252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06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550"/>
              <a:buFont typeface="Arial"/>
              <a:buNone/>
            </a:pPr>
            <a:r>
              <a:rPr lang="es-CL" sz="15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Seguimiento y Control</a:t>
            </a:r>
            <a:endParaRPr sz="15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1"/>
          <p:cNvSpPr/>
          <p:nvPr/>
        </p:nvSpPr>
        <p:spPr>
          <a:xfrm>
            <a:off x="7486888" y="6810375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Jira Software: avance por sprint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1"/>
          <p:cNvSpPr/>
          <p:nvPr/>
        </p:nvSpPr>
        <p:spPr>
          <a:xfrm>
            <a:off x="7486888" y="7072670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GitHub: etiquetado de releases y CI/CD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1"/>
          <p:cNvSpPr/>
          <p:nvPr/>
        </p:nvSpPr>
        <p:spPr>
          <a:xfrm>
            <a:off x="7486888" y="7334964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Microsoft 365: reportes formales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1"/>
          <p:cNvSpPr/>
          <p:nvPr/>
        </p:nvSpPr>
        <p:spPr>
          <a:xfrm>
            <a:off x="7486888" y="7597259"/>
            <a:ext cx="6680359" cy="215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57142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50"/>
              <a:buFont typeface="Arial"/>
              <a:buChar char="•"/>
            </a:pPr>
            <a:r>
              <a:rPr lang="es-CL" sz="10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Actas de entrega y evidencia de pruebas</a:t>
            </a:r>
            <a:endParaRPr sz="10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92696"/>
            <a:ext cx="8070811" cy="5526157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2"/>
          <p:cNvSpPr/>
          <p:nvPr/>
        </p:nvSpPr>
        <p:spPr>
          <a:xfrm>
            <a:off x="2154209" y="609600"/>
            <a:ext cx="3753313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de secuencias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12"/>
          <p:cNvSpPr/>
          <p:nvPr/>
        </p:nvSpPr>
        <p:spPr>
          <a:xfrm>
            <a:off x="9428717" y="652669"/>
            <a:ext cx="4058683" cy="4010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04687" y="1446144"/>
            <a:ext cx="6401375" cy="5019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93605" y="367748"/>
            <a:ext cx="6426147" cy="412370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3"/>
          <p:cNvPicPr preferRelativeResize="0"/>
          <p:nvPr/>
        </p:nvPicPr>
        <p:blipFill rotWithShape="1">
          <a:blip r:embed="rId4">
            <a:alphaModFix/>
          </a:blip>
          <a:srcRect b="26952" l="0" r="0" t="26811"/>
          <a:stretch/>
        </p:blipFill>
        <p:spPr>
          <a:xfrm>
            <a:off x="710648" y="4963387"/>
            <a:ext cx="13209104" cy="289846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13"/>
          <p:cNvSpPr/>
          <p:nvPr/>
        </p:nvSpPr>
        <p:spPr>
          <a:xfrm>
            <a:off x="889552" y="4260099"/>
            <a:ext cx="8097203" cy="934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00"/>
              <a:buFont typeface="Arial"/>
              <a:buNone/>
            </a:pPr>
            <a:r>
              <a:rPr lang="es-CL" sz="29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de Despliegue</a:t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3"/>
          <p:cNvSpPr/>
          <p:nvPr/>
        </p:nvSpPr>
        <p:spPr>
          <a:xfrm>
            <a:off x="3753617" y="367748"/>
            <a:ext cx="8097203" cy="934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00"/>
              <a:buFont typeface="Arial"/>
              <a:buNone/>
            </a:pPr>
            <a:r>
              <a:rPr lang="es-CL" sz="29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de Clase</a:t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14"/>
          <p:cNvSpPr/>
          <p:nvPr/>
        </p:nvSpPr>
        <p:spPr>
          <a:xfrm>
            <a:off x="5047391" y="556045"/>
            <a:ext cx="4535618" cy="9346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862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900"/>
              <a:buFont typeface="Arial"/>
              <a:buNone/>
            </a:pPr>
            <a:r>
              <a:rPr lang="es-CL" sz="29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Diagrama Casos de Uso</a:t>
            </a:r>
            <a:endParaRPr sz="2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5" name="Google Shape;385;p14"/>
          <p:cNvPicPr preferRelativeResize="0"/>
          <p:nvPr/>
        </p:nvPicPr>
        <p:blipFill rotWithShape="1">
          <a:blip r:embed="rId3">
            <a:alphaModFix/>
          </a:blip>
          <a:srcRect b="0" l="0" r="0" t="3435"/>
          <a:stretch/>
        </p:blipFill>
        <p:spPr>
          <a:xfrm>
            <a:off x="1982481" y="1236695"/>
            <a:ext cx="10665438" cy="6575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5"/>
          <p:cNvSpPr/>
          <p:nvPr/>
        </p:nvSpPr>
        <p:spPr>
          <a:xfrm>
            <a:off x="446246" y="356116"/>
            <a:ext cx="5277564" cy="398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Retrospectivas del Proyecto SSMS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5"/>
          <p:cNvSpPr/>
          <p:nvPr/>
        </p:nvSpPr>
        <p:spPr>
          <a:xfrm>
            <a:off x="446246" y="805458"/>
            <a:ext cx="3367802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Sistema de Gestión de Stock para Old Tree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5"/>
          <p:cNvSpPr/>
          <p:nvPr/>
        </p:nvSpPr>
        <p:spPr>
          <a:xfrm>
            <a:off x="7307580" y="1195864"/>
            <a:ext cx="15240" cy="4466153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6804600" y="1331595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7171789" y="1195864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7219533" y="1219676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5"/>
          <p:cNvSpPr/>
          <p:nvPr/>
        </p:nvSpPr>
        <p:spPr>
          <a:xfrm>
            <a:off x="4887397" y="1239679"/>
            <a:ext cx="1790343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0: Configuración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5"/>
          <p:cNvSpPr/>
          <p:nvPr/>
        </p:nvSpPr>
        <p:spPr>
          <a:xfrm>
            <a:off x="446246" y="1515308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Entorno de desarrollo, repositorio Git, conexión Supabase, pipeline CI/CD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5"/>
          <p:cNvSpPr/>
          <p:nvPr/>
        </p:nvSpPr>
        <p:spPr>
          <a:xfrm>
            <a:off x="7443371" y="2096453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7171789" y="1960721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7219533" y="1984534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5"/>
          <p:cNvSpPr/>
          <p:nvPr/>
        </p:nvSpPr>
        <p:spPr>
          <a:xfrm>
            <a:off x="7952661" y="2004536"/>
            <a:ext cx="2008108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1: Productos y Stock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5"/>
          <p:cNvSpPr/>
          <p:nvPr/>
        </p:nvSpPr>
        <p:spPr>
          <a:xfrm>
            <a:off x="7952661" y="2280166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CRUD completo de productos, visualización de inventario, interfaces limpias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5"/>
          <p:cNvSpPr/>
          <p:nvPr/>
        </p:nvSpPr>
        <p:spPr>
          <a:xfrm>
            <a:off x="6804600" y="2755821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7171789" y="2620089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7219533" y="2643902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5"/>
          <p:cNvSpPr/>
          <p:nvPr/>
        </p:nvSpPr>
        <p:spPr>
          <a:xfrm>
            <a:off x="4657725" y="2663904"/>
            <a:ext cx="2020014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2: Ventas Manuales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5"/>
          <p:cNvSpPr/>
          <p:nvPr/>
        </p:nvSpPr>
        <p:spPr>
          <a:xfrm>
            <a:off x="446246" y="2939534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Registro B2B y tienda física, actualización automática de stock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5"/>
          <p:cNvSpPr/>
          <p:nvPr/>
        </p:nvSpPr>
        <p:spPr>
          <a:xfrm>
            <a:off x="7443371" y="3415189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7171789" y="3279458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7219533" y="3303270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5"/>
          <p:cNvSpPr/>
          <p:nvPr/>
        </p:nvSpPr>
        <p:spPr>
          <a:xfrm>
            <a:off x="7952661" y="3323273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3: Reportes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5"/>
          <p:cNvSpPr/>
          <p:nvPr/>
        </p:nvSpPr>
        <p:spPr>
          <a:xfrm>
            <a:off x="7952661" y="3598902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Dashboard dinámico con Recharts, visualización de ventas y niveles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5"/>
          <p:cNvSpPr/>
          <p:nvPr/>
        </p:nvSpPr>
        <p:spPr>
          <a:xfrm>
            <a:off x="6804600" y="4074557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7171789" y="3938826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7219533" y="3962638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5"/>
          <p:cNvSpPr/>
          <p:nvPr/>
        </p:nvSpPr>
        <p:spPr>
          <a:xfrm>
            <a:off x="5083969" y="3982641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4: Seguridad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5"/>
          <p:cNvSpPr/>
          <p:nvPr/>
        </p:nvSpPr>
        <p:spPr>
          <a:xfrm>
            <a:off x="446246" y="4258270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Pruebas completas, autenticación por roles, despliegue en DigitalOcean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/>
          <p:nvPr/>
        </p:nvSpPr>
        <p:spPr>
          <a:xfrm>
            <a:off x="7443371" y="4733925"/>
            <a:ext cx="382429" cy="15240"/>
          </a:xfrm>
          <a:prstGeom prst="roundRect">
            <a:avLst>
              <a:gd fmla="val 351401" name="adj"/>
            </a:avLst>
          </a:prstGeom>
          <a:solidFill>
            <a:srgbClr val="56565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7171789" y="4598194"/>
            <a:ext cx="286822" cy="286822"/>
          </a:xfrm>
          <a:prstGeom prst="roundRect">
            <a:avLst>
              <a:gd fmla="val 18671" name="adj"/>
            </a:avLst>
          </a:prstGeom>
          <a:solidFill>
            <a:srgbClr val="3D3D42"/>
          </a:solidFill>
          <a:ln cap="flat" cmpd="sng" w="95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7219533" y="4622006"/>
            <a:ext cx="191214" cy="2390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500"/>
              <a:buFont typeface="Arial"/>
              <a:buNone/>
            </a:pPr>
            <a:r>
              <a:rPr lang="es-CL" sz="15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/>
          <p:nvPr/>
        </p:nvSpPr>
        <p:spPr>
          <a:xfrm>
            <a:off x="7952661" y="4642009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Sprint 5: Cierre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/>
          <p:nvPr/>
        </p:nvSpPr>
        <p:spPr>
          <a:xfrm>
            <a:off x="7952661" y="4917638"/>
            <a:ext cx="6231493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None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Documentación técnica, capacitación al cliente, manual de usuario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/>
          <p:nvPr/>
        </p:nvSpPr>
        <p:spPr>
          <a:xfrm>
            <a:off x="446246" y="5853232"/>
            <a:ext cx="3681770" cy="3187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Lecciones Clave del Proyecto</a:t>
            </a:r>
            <a:endParaRPr sz="2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/>
          <p:nvPr/>
        </p:nvSpPr>
        <p:spPr>
          <a:xfrm>
            <a:off x="446246" y="6363176"/>
            <a:ext cx="4494371" cy="1510308"/>
          </a:xfrm>
          <a:prstGeom prst="roundRect">
            <a:avLst>
              <a:gd fmla="val 4844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431006" y="6363176"/>
            <a:ext cx="60960" cy="1510308"/>
          </a:xfrm>
          <a:prstGeom prst="roundRect">
            <a:avLst>
              <a:gd fmla="val 8785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634603" y="6505813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Éxitos Técnicos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/>
          <p:nvPr/>
        </p:nvSpPr>
        <p:spPr>
          <a:xfrm>
            <a:off x="634603" y="6781443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Supabase eliminó necesidad de backend dedicado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/>
          <p:nvPr/>
        </p:nvSpPr>
        <p:spPr>
          <a:xfrm>
            <a:off x="634603" y="7029926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React simplificó vistas con componentes reutilizables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/>
          <p:nvPr/>
        </p:nvSpPr>
        <p:spPr>
          <a:xfrm>
            <a:off x="634603" y="7278410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Pipeline CI/CD automatizado con GitHub Actions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/>
          <p:nvPr/>
        </p:nvSpPr>
        <p:spPr>
          <a:xfrm>
            <a:off x="5068014" y="6363176"/>
            <a:ext cx="4494371" cy="1510308"/>
          </a:xfrm>
          <a:prstGeom prst="roundRect">
            <a:avLst>
              <a:gd fmla="val 4844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5052774" y="6363176"/>
            <a:ext cx="60960" cy="1510308"/>
          </a:xfrm>
          <a:prstGeom prst="roundRect">
            <a:avLst>
              <a:gd fmla="val 8785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5256371" y="6505813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Áreas de Mejora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/>
          <p:nvPr/>
        </p:nvSpPr>
        <p:spPr>
          <a:xfrm>
            <a:off x="5256371" y="6781443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Estandarización de commits y ramas (Gitflow)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5"/>
          <p:cNvSpPr/>
          <p:nvPr/>
        </p:nvSpPr>
        <p:spPr>
          <a:xfrm>
            <a:off x="5256371" y="7029926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Validaciones de formulario y pruebas automatizadas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5"/>
          <p:cNvSpPr/>
          <p:nvPr/>
        </p:nvSpPr>
        <p:spPr>
          <a:xfrm>
            <a:off x="5256371" y="7278410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Transacciones atómicas para ventas simultáneas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15"/>
          <p:cNvSpPr/>
          <p:nvPr/>
        </p:nvSpPr>
        <p:spPr>
          <a:xfrm>
            <a:off x="5256371" y="7526893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Paginación y optimización de consultas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15"/>
          <p:cNvSpPr/>
          <p:nvPr/>
        </p:nvSpPr>
        <p:spPr>
          <a:xfrm>
            <a:off x="9689783" y="6363176"/>
            <a:ext cx="4494371" cy="1510308"/>
          </a:xfrm>
          <a:prstGeom prst="roundRect">
            <a:avLst>
              <a:gd fmla="val 4844" name="adj"/>
            </a:avLst>
          </a:prstGeom>
          <a:solidFill>
            <a:srgbClr val="050505"/>
          </a:solidFill>
          <a:ln cap="flat" cmpd="sng" w="15225">
            <a:solidFill>
              <a:srgbClr val="56565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9674543" y="6363176"/>
            <a:ext cx="60960" cy="1510308"/>
          </a:xfrm>
          <a:prstGeom prst="roundRect">
            <a:avLst>
              <a:gd fmla="val 87850" name="adj"/>
            </a:avLst>
          </a:prstGeom>
          <a:solidFill>
            <a:srgbClr val="F2F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9878139" y="6505813"/>
            <a:ext cx="1593771" cy="199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250"/>
              <a:buFont typeface="Arial"/>
              <a:buNone/>
            </a:pPr>
            <a:r>
              <a:rPr lang="es-CL" sz="125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Gestión Ágil</a:t>
            </a:r>
            <a:endParaRPr sz="125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5"/>
          <p:cNvSpPr/>
          <p:nvPr/>
        </p:nvSpPr>
        <p:spPr>
          <a:xfrm>
            <a:off x="9878139" y="6781443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Jira mantuvo claridad en prioridades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5"/>
          <p:cNvSpPr/>
          <p:nvPr/>
        </p:nvSpPr>
        <p:spPr>
          <a:xfrm>
            <a:off x="9878139" y="7029926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Revisiones con cliente facilitaron ajustes tempranos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15"/>
          <p:cNvSpPr/>
          <p:nvPr/>
        </p:nvSpPr>
        <p:spPr>
          <a:xfrm>
            <a:off x="9878139" y="7278410"/>
            <a:ext cx="4163377" cy="2039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E5E0DF"/>
              </a:buClr>
              <a:buSzPts val="1000"/>
              <a:buFont typeface="Arial"/>
              <a:buChar char="•"/>
            </a:pPr>
            <a:r>
              <a:rPr lang="es-CL" sz="1000">
                <a:solidFill>
                  <a:srgbClr val="E5E0DF"/>
                </a:solidFill>
                <a:latin typeface="Arial"/>
                <a:ea typeface="Arial"/>
                <a:cs typeface="Arial"/>
                <a:sym typeface="Arial"/>
              </a:rPr>
              <a:t>QA temprano redujo defectos críticos a cero</a:t>
            </a:r>
            <a:endParaRPr sz="1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48" name="Google Shape;448;p16"/>
          <p:cNvGraphicFramePr/>
          <p:nvPr/>
        </p:nvGraphicFramePr>
        <p:xfrm>
          <a:off x="636106" y="70005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{5B702B1D-EBA8-4EEC-96E5-672A81551BAB}</a:tableStyleId>
              </a:tblPr>
              <a:tblGrid>
                <a:gridCol w="496925"/>
                <a:gridCol w="3631550"/>
                <a:gridCol w="3671450"/>
                <a:gridCol w="713050"/>
                <a:gridCol w="3185975"/>
                <a:gridCol w="1232625"/>
                <a:gridCol w="635325"/>
              </a:tblGrid>
              <a:tr h="101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ID Historia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Historia de Usuario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Criterio de Aceptación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Tipo de Prueba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Caso de Prueba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Resultado Esperado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Prioridad</a:t>
                      </a:r>
                      <a:endParaRPr b="1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Establecer un entorno de desarrollo estandarizado y configurar el repositorio de control de versiones (Git) para el equipo.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Repositorio Git inicializado.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Convenciones de código y ramas definidas y documentadas.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Verificar que el repositorio esté inicializado y que existan README, convenciones y ramas documentadas.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SSMS-3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Diseñar el esquema inicial de la base de datos para los módulos: productos, inventario, y registros de transacciones de stock.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Esquema documentado con tablas: productos, inventario, transacciones 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Diagrama ER revisado.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Verificar existencia del diagrama ER y tablas mínimas con campos requeridos.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Establecer la estructura inicial de un micro-servicio para productos (endpoints básicos).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Endpoints CRUD para productos implementados y documentados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Tests unitarios básicos presentes.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Llamar endpoints CRUD y comprobar respuestas 200/201 y formato esperado.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Investigar la documentación de la API de Mercado Libre y crear un documento con conclusiones y pruebas básicas.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Documentación de la API recopilada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Ejemplo de llamada a ML invocado exitosamente desde el entorno de desarrollo.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Ejecutar ejemplo de llamada a ML (listar categorías o productos) y comprobar respuesta válida.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SSMS-6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Investigar la documentación de la API de WooCommerce y realizar pruebas de conectividad (listar productos).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Documentación de la API de WooCommerce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Prueba de conectividad básica (obtener lista de productos).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Realizar petición a WooCommerce (GET productos) y validar respuesta.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SSMS-7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Configurar un pipeline de integración continua y despliegue para el micro-servicio de productos.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CI/CD configurado (build + tests + deploy a entorno de staging)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Notificaciones de build configuradas.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Ejecutar pipeline para commit de prueba y validar build, tests y despliegue a staging.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SSMS-8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interfaz de administración básica (login de admin + vista lista de productos).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Login de admin funcional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Vista lista muestra productos desde la BD.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Iniciar sesión como admin y verificar que la lista de productos se carga correctamente.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SSMS-9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Permitir creación y edición de productos desde el panel admin (nombre, variantes, stock inicial).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Formulario para crear/editar producto funcionando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Validaciones mínimas implementadas.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producto con variantes y validar que aparece en la lista y BD.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registro de movimientos de stock manuales (entrada/salida) desde el panel.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Form registro de movimiento disponible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Movimientos persisten en la tabla de transacciones.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Registrar entrada y salida de stock y comprobar actualización en inventario y transacciones.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SSMS-11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Página de detalle de producto con historial de movimientos.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Vista detalle muestra historial de transacciones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Filtros por fecha y tipo funcionan.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Abrir detalle de producto y verificar listado de transacciones y filtros.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búsqueda y filtros en listado de productos (por modelo, talla, canal).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Filtros aplicables y búsqueda devuelve resultados coherentes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Paginación si aplica.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Buscar por modelo/talla y comprobar que resultados coinciden; validar paginación.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SSMS-13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Añadir campo 'Sales Channel' en la vista y en el registro de transacciones.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Sales Channel presente en producto y en transacciones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Filtro por canal disponible.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movimiento con canal B2B/Mercado Libre/web y comprobar campo en transacción.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Agregar opción 'auspicio' en dropdown de ajustes (nota en reunión).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Dropdown de ajustes contiene opción 'auspicio' y se persiste.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Seleccionar 'auspicio' y verificar persistencia en configuración del producto/ajuste.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Baja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Agregar flujo para ventas B2B (registro de pedido B2B que afecta stock).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Registro pedido B2B crea transacción de salida de stock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Número de pedido asociado.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Registrar pedido B2B y verificar reducción de stock y registro de transacción con pedido ID.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SSMS-16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exportación de reportes (CSV) de movimientos diarios.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Botón exportar genera CSV con formato definido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Incluye filtros aplicados.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Aplicar filtro de fecha y exportar CSV; validar formato y contenido.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SSMS-17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auditoría básica: quién y cuándo realizó cambios en stock.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Tabla de auditoría con usuario, timestamp y acción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Accesible desde admin.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Realizar cambio en stock y verificar entrada en tabla de auditoría con datos correctos.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SSMS-18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Validaciones UX: evitar reducir stock por debajo de 0 y mostrar mensaje de error.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Validación en frontend y backend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Mensaje claro al usuario.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Intentar crear salida mayor al stock disponible y verificar bloqueo y mensaje.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SSMS-19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rol/permiso inicial (solo admins por ahora) y control de acceso.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Solo usuarios con rol admin pueden acceder al panel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Mensajes 403/redirect si no autorizado.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Intentar acceder sin permisos y comprobar redirección/403; acceder como admin OK.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Definir endpoints para futuras integraciones (API pública interna para stock).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Endpoints documentados para obtener stock por producto/variante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Autenticación básica.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Llamar endpoint de stock y comprobar respuesta con estructura esperada.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SSMS-21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Proveer vista de KPIs resumidos (stock bajo, productos sin movimiento).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Dashboard muestra KPIs básicos y links a acciones.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Acceder al dashboard y comprobar indicadores (ej. items con stock &lt; threshold).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SSMS-22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Documentar la arquitectura propuesta y flujo de datos para la integración futura con ML / WooCommerce.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Documentación completa con diagramas y notas de integración.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Revisar documento y validar que cubre endpoints, auth y flujo de actualizaciones.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SSMS-23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manejo de variantes (talla/color) por producto y stock por variante.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Variantes definidas y stock gestionado por variante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Listado muestra variante y cantidad.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producto con variantes y verificar stock por variante en detalle y listados.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SSMS-24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Pruebas de performance iniciales en listados (carga de 1000 productos).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Tiempo de respuesta aceptable en listados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Paginación funciona.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No funcional / Técnica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Cargar dataset (1000 productos) y medir tiempo de carga de la lista en staging.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Baja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SSMS-25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Implementar validación y subida masiva (import CSV) de inventario.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Importar CSV actualiza inventario y muestra resumen de cambios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Errores reportados.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Subir CSV de prueba y comprobar cambios aplicados y reporte de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SSMS-26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mecanismo de rollback/corrección para movimientos erróneos.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Posibilidad de anular transacción con auditoría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Ajuste automático del stock.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Crear movimiento erróneo y ejecutar anulación; validar restauración del stock y registro de auditoría.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SSMS-27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Interfaz para ajustes manuales de stock (motivo y referencia).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Form de ajuste con motivo y referencia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Ajuste genera transacción y auditoría.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Realizar ajuste manual y verificar transacción y entrada en auditoría con motivo.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SSMS-28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Alertas por email (configurables) para stock bajo.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Sistema envía email cuando stock &lt; threshold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Configuración por producto/tienda.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 / 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Configurar threshold y provocar alerta; comprobar envío de email y contenido.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Baja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SSMS-29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Integración inicial de orden de compra (registro de OC que incrementa stock).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OC registrada incrementa stock tras confirmación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OC vinculada a proveedor.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Funcional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Registrar OC y confirmar recepción; verificar aumento de stock y vínculo con OC.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Media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  <a:tr h="250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SSMS-30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Tests E2E básicos (flujo: crear producto → registrar movimiento → ver historial).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* Flujos E2E implementados en tests automatizados</a:t>
                      </a:r>
                      <a:br>
                        <a:rPr lang="es-CL" sz="800" u="none" cap="none" strike="noStrike"/>
                      </a:br>
                      <a:r>
                        <a:rPr lang="es-CL" sz="800" u="none" cap="none" strike="noStrike"/>
                        <a:t>* Documentación para ejecutar tests.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Técnica/Integración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Ejecutar suite E2E y validar que el flujo crítico pasa sin fallos.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Cumple los criterios (checks descritos) sin errores.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CL" sz="800" u="none" cap="none" strike="noStrike"/>
                        <a:t>Alta</a:t>
                      </a:r>
                      <a:endParaRPr b="0" i="0" sz="800" u="none" cap="none" strike="noStrike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5275" marB="0" marR="5275" marL="5275" anchor="b"/>
                </a:tc>
              </a:tr>
            </a:tbl>
          </a:graphicData>
        </a:graphic>
      </p:graphicFrame>
      <p:sp>
        <p:nvSpPr>
          <p:cNvPr id="449" name="Google Shape;449;p16"/>
          <p:cNvSpPr/>
          <p:nvPr/>
        </p:nvSpPr>
        <p:spPr>
          <a:xfrm>
            <a:off x="6003265" y="174890"/>
            <a:ext cx="2832594" cy="3983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Clr>
                <a:srgbClr val="F2F2F3"/>
              </a:buClr>
              <a:buSzPts val="2500"/>
              <a:buFont typeface="Arial"/>
              <a:buNone/>
            </a:pPr>
            <a:r>
              <a:rPr lang="es-CL" sz="2500">
                <a:solidFill>
                  <a:srgbClr val="F2F2F3"/>
                </a:solidFill>
                <a:latin typeface="Arial"/>
                <a:ea typeface="Arial"/>
                <a:cs typeface="Arial"/>
                <a:sym typeface="Arial"/>
              </a:rPr>
              <a:t>Matriz de Pruebas</a:t>
            </a:r>
            <a:endParaRPr sz="25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4630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17"/>
          <p:cNvSpPr txBox="1"/>
          <p:nvPr>
            <p:ph type="ctrTitle"/>
          </p:nvPr>
        </p:nvSpPr>
        <p:spPr>
          <a:xfrm>
            <a:off x="1828800" y="3589143"/>
            <a:ext cx="10972800" cy="105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00"/>
              <a:buFont typeface="Arial"/>
              <a:buNone/>
            </a:pPr>
            <a:r>
              <a:rPr lang="es-CL" sz="8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9AF8C"/>
      </a:accent1>
      <a:accent2>
        <a:srgbClr val="97BE49"/>
      </a:accent2>
      <a:accent3>
        <a:srgbClr val="3D9CCC"/>
      </a:accent3>
      <a:accent4>
        <a:srgbClr val="7C60C6"/>
      </a:accent4>
      <a:accent5>
        <a:srgbClr val="C9492C"/>
      </a:accent5>
      <a:accent6>
        <a:srgbClr val="D58C2E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2025-10-10T13:01:50Z</dcterms:created>
  <dc:creator>Matías Suito Serrano</dc:creator>
</cp:coreProperties>
</file>